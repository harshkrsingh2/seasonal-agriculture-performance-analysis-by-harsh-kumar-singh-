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17"/>
  </p:notesMasterIdLst>
  <p:handoutMasterIdLst>
    <p:handoutMasterId r:id="rId18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677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835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836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837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104882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104883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104883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83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104883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7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48726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3145730" name="Straight Connector 18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19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727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728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729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730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731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732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733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1048734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35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7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9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75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806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807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80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80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80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1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8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3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8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8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8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4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4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4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8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8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818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819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82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2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6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65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6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76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80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5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5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757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758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9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44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5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749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750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8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8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7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82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8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8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48593" name="Hexagon 14"/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594" name="Hexagon 15"/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595" name="Hexagon 16"/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596" name="Hexagon 17"/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597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Oval 9"/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048631" name="Oval 13"/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048632" name="Oval 15"/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04863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34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5" name="Rectangle 18"/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06" name="Rectangle 20"/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07" name="Rectangle 22"/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608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06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07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08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09" name="Title 1"/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1048710" name="Hexagon 8"/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711" name="Hexagon 9"/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712" name="Hexagon 10"/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713" name="Text Placeholder 22"/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4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6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7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9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0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1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2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3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60" name="Rectangle 1" descr="Tall office building looking up"/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761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048762" name="Title 1"/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48583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589" name="Date Placeholder 3"/>
          <p:cNvSpPr txBox="1"/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048590" name="Footer Placeholder 4"/>
          <p:cNvSpPr txBox="1"/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1048591" name="Slide Number Placeholder 5"/>
          <p:cNvSpPr txBox="1"/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shkrsingh2/Seasonal-Agriculture-Performance-Analysis-By-Harsh-Kumar-Singh-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-EhXdbMeykEmnBhAwH25nVMtxHXn2Zst/view?usp=sharin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harshkrsingh14@gmail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768096" y="3858768"/>
            <a:ext cx="5120640" cy="822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b="0" dirty="0">
                <a:solidFill>
                  <a:schemeClr val="tx1"/>
                </a:solidFill>
              </a:rPr>
              <a:t>Student Name: Harsh Kumar Singh</a:t>
            </a:r>
            <a:endParaRPr lang="en-IN" b="0" dirty="0">
              <a:solidFill>
                <a:schemeClr val="tx1"/>
              </a:solidFill>
            </a:endParaRPr>
          </a:p>
          <a:p>
            <a:pPr algn="l"/>
            <a:r>
              <a:rPr sz="1400">
                <a:latin typeface="Calibri"/>
              </a:rPr>
              <a:t>College Name: Chandigarh University</a:t>
            </a:r>
          </a:p>
        </p:txBody>
      </p:sp>
      <p:sp>
        <p:nvSpPr>
          <p:cNvPr id="1048600" name="Title 3"/>
          <p:cNvSpPr>
            <a:spLocks noGrp="1"/>
          </p:cNvSpPr>
          <p:nvPr>
            <p:ph type="title"/>
          </p:nvPr>
        </p:nvSpPr>
        <p:spPr>
          <a:xfrm>
            <a:off x="713232" y="2697480"/>
            <a:ext cx="5394960" cy="1097280"/>
          </a:xfrm>
        </p:spPr>
        <p:txBody>
          <a:bodyPr>
            <a:normAutofit/>
          </a:bodyPr>
          <a:lstStyle/>
          <a:p>
            <a:r>
              <a:rPr lang="en-GB" sz="3200" dirty="0"/>
              <a:t>Seasonal Agriculture Performance Analysis</a:t>
            </a:r>
            <a:endParaRPr lang="en-IN" sz="3200" dirty="0"/>
          </a:p>
        </p:txBody>
      </p:sp>
      <p:sp>
        <p:nvSpPr>
          <p:cNvPr id="1048601" name="Text Placeholder 1"/>
          <p:cNvSpPr txBox="1"/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2097152" name="Picture 5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02" name="TextBox 2"/>
          <p:cNvSpPr txBox="1"/>
          <p:nvPr/>
        </p:nvSpPr>
        <p:spPr>
          <a:xfrm>
            <a:off x="768096" y="4736592"/>
            <a:ext cx="5760720" cy="332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/>
              <a:t>AICTE STU ID: STU6a6b571d927b91785419549</a:t>
            </a:r>
          </a:p>
        </p:txBody>
      </p:sp>
      <p:sp>
        <p:nvSpPr>
          <p:cNvPr id="1048603" name="TextBox 37"/>
          <p:cNvSpPr txBox="1"/>
          <p:nvPr/>
        </p:nvSpPr>
        <p:spPr>
          <a:xfrm>
            <a:off x="6355080" y="2788920"/>
            <a:ext cx="306324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>
                <a:solidFill>
                  <a:srgbClr val="1B4F72"/>
                </a:solidFill>
                <a:latin typeface="Calibri"/>
              </a:rPr>
              <a:t>Major Project - Data Analytics</a:t>
            </a:r>
          </a:p>
          <a:p>
            <a:r>
              <a:rPr sz="1300">
                <a:solidFill>
                  <a:srgbClr val="3F9C35"/>
                </a:solidFill>
                <a:latin typeface="Calibri"/>
              </a:rPr>
              <a:t>VOIS  |  AICTE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48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485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 build="p"/>
      <p:bldP spid="1048600" grpId="0"/>
      <p:bldP spid="104860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75957" y="1776271"/>
            <a:ext cx="6431280" cy="3566160"/>
          </a:xfrm>
        </p:spPr>
        <p:txBody>
          <a:bodyPr vert="horz" lIns="91440" tIns="45720" rIns="91440" bIns="45720" rtlCol="0" anchor="t">
            <a:normAutofit fontScale="96667"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500" dirty="0">
                <a:solidFill>
                  <a:srgbClr val="333333"/>
                </a:solidFill>
                <a:latin typeface="Calibri"/>
              </a:rPr>
              <a:t>Agricultural performance is influenced by seasonal environmental conditions, farming practices, resource availability and market conditions. However, raw agricultural data does not clearly reveal how performance changes across seasons.</a:t>
            </a:r>
            <a:endParaRPr lang="en-IN" sz="2800" dirty="0"/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B4F72"/>
                </a:solidFill>
                <a:latin typeface="Calibri"/>
              </a:rPr>
              <a:t>Aim:  </a:t>
            </a:r>
            <a:r>
              <a:rPr sz="1500" dirty="0" err="1">
                <a:solidFill>
                  <a:srgbClr val="333333"/>
                </a:solidFill>
                <a:latin typeface="Calibri"/>
              </a:rPr>
              <a:t>Analyse</a:t>
            </a:r>
            <a:r>
              <a:rPr sz="1500" dirty="0">
                <a:solidFill>
                  <a:srgbClr val="333333"/>
                </a:solidFill>
                <a:latin typeface="Calibri"/>
              </a:rPr>
              <a:t> seasonal differences in agricultural performance by identifying meaningful patterns, trends, relationships and variations across crops, regions, environmental conditions, resource usage and economic outcomes.</a:t>
            </a:r>
          </a:p>
        </p:txBody>
      </p:sp>
      <p:sp>
        <p:nvSpPr>
          <p:cNvPr id="1048611" name="Title 3"/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209715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2097154" name="Picture 5"/>
          <p:cNvPicPr>
            <a:picLocks noChangeAspect="1"/>
          </p:cNvPicPr>
          <p:nvPr/>
        </p:nvPicPr>
        <p:blipFill rotWithShape="1">
          <a:blip r:embed="rId3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4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0" grpId="0" build="p"/>
      <p:bldP spid="10486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2"/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2097155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209715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48613" name="TextBox 9"/>
          <p:cNvSpPr txBox="1"/>
          <p:nvPr/>
        </p:nvSpPr>
        <p:spPr>
          <a:xfrm>
            <a:off x="658368" y="2011680"/>
            <a:ext cx="7818120" cy="217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This project analyzes 4,000 farm-level agricultural records across 3 seasons - Kharif, Rabi and Zaid - covering 8 crops and 8 states.</a:t>
            </a:r>
          </a:p>
          <a:p>
            <a:pPr algn="l">
              <a:spcAft>
                <a:spcPts val="12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The analysis evaluates seasonal differences in crop yield, production, environmental conditions, resource utilization, water efficiency, market prices and profitability.</a:t>
            </a:r>
          </a:p>
          <a:p>
            <a:pPr algn="l">
              <a:spcAft>
                <a:spcPts val="12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Python-based data analytics techniques were used for data cleaning, exploratory analysis, statistical analysis and visualization. Additional analyses were performed to investigate regional seasonal performance, crop-season profitability, resource usage and statistical differences in farm profit.</a:t>
            </a:r>
          </a:p>
          <a:p>
            <a:pPr algn="l">
              <a:spcAft>
                <a:spcPts val="1200"/>
              </a:spcAft>
            </a:pPr>
            <a:r>
              <a:rPr sz="1350">
                <a:solidFill>
                  <a:srgbClr val="333333"/>
                </a:solidFill>
                <a:latin typeface="Calibri"/>
              </a:rPr>
              <a:t>The objective is to transform agricultural data into evidence-based insights that can support better seasonal planning and resource allocation.</a:t>
            </a:r>
          </a:p>
        </p:txBody>
      </p:sp>
      <p:sp>
        <p:nvSpPr>
          <p:cNvPr id="1048614" name="Rounded Rectangle 10"/>
          <p:cNvSpPr/>
          <p:nvPr/>
        </p:nvSpPr>
        <p:spPr>
          <a:xfrm>
            <a:off x="658368" y="5394960"/>
            <a:ext cx="1783080" cy="777240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6FB2"/>
                </a:solidFill>
                <a:latin typeface="Calibri"/>
              </a:rPr>
              <a:t>4,000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farm records</a:t>
            </a:r>
          </a:p>
        </p:txBody>
      </p:sp>
      <p:sp>
        <p:nvSpPr>
          <p:cNvPr id="1048615" name="Rounded Rectangle 11"/>
          <p:cNvSpPr/>
          <p:nvPr/>
        </p:nvSpPr>
        <p:spPr>
          <a:xfrm>
            <a:off x="2670048" y="5394960"/>
            <a:ext cx="1783080" cy="777240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B4F72"/>
                </a:solidFill>
                <a:latin typeface="Calibri"/>
              </a:rPr>
              <a:t>28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variables</a:t>
            </a:r>
          </a:p>
        </p:txBody>
      </p:sp>
      <p:sp>
        <p:nvSpPr>
          <p:cNvPr id="1048616" name="Rounded Rectangle 12"/>
          <p:cNvSpPr/>
          <p:nvPr/>
        </p:nvSpPr>
        <p:spPr>
          <a:xfrm>
            <a:off x="4681728" y="5394960"/>
            <a:ext cx="1783080" cy="777240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F9C35"/>
                </a:solidFill>
                <a:latin typeface="Calibri"/>
              </a:rPr>
              <a:t>3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seasons</a:t>
            </a:r>
          </a:p>
        </p:txBody>
      </p:sp>
      <p:sp>
        <p:nvSpPr>
          <p:cNvPr id="1048617" name="Rounded Rectangle 13"/>
          <p:cNvSpPr/>
          <p:nvPr/>
        </p:nvSpPr>
        <p:spPr>
          <a:xfrm>
            <a:off x="6693408" y="5394960"/>
            <a:ext cx="1783080" cy="777240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6FB2"/>
                </a:solidFill>
                <a:latin typeface="Calibri"/>
              </a:rPr>
              <a:t>8 + 8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crops and states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3"/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209715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048620" name="Oval 16"/>
          <p:cNvSpPr/>
          <p:nvPr/>
        </p:nvSpPr>
        <p:spPr>
          <a:xfrm>
            <a:off x="603504" y="2048255"/>
            <a:ext cx="402336" cy="40233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48621" name="Rounded Rectangle 17"/>
          <p:cNvSpPr/>
          <p:nvPr/>
        </p:nvSpPr>
        <p:spPr>
          <a:xfrm>
            <a:off x="1152144" y="1874519"/>
            <a:ext cx="7589520" cy="749808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Farmers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Compare crop and seasonal performance and identify potentially profitable crop-season combinations.</a:t>
            </a:r>
          </a:p>
        </p:txBody>
      </p:sp>
      <p:sp>
        <p:nvSpPr>
          <p:cNvPr id="1048622" name="Oval 18"/>
          <p:cNvSpPr/>
          <p:nvPr/>
        </p:nvSpPr>
        <p:spPr>
          <a:xfrm>
            <a:off x="603504" y="2944368"/>
            <a:ext cx="402336" cy="402336"/>
          </a:xfrm>
          <a:prstGeom prst="ellipse">
            <a:avLst/>
          </a:prstGeom>
          <a:solidFill>
            <a:srgbClr val="3F9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48623" name="Rounded Rectangle 19"/>
          <p:cNvSpPr/>
          <p:nvPr/>
        </p:nvSpPr>
        <p:spPr>
          <a:xfrm>
            <a:off x="1152144" y="2770632"/>
            <a:ext cx="7589520" cy="749808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Agricultural Departments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Support regional and seasonal agricultural planning.</a:t>
            </a:r>
          </a:p>
        </p:txBody>
      </p:sp>
      <p:sp>
        <p:nvSpPr>
          <p:cNvPr id="1048624" name="Oval 20"/>
          <p:cNvSpPr/>
          <p:nvPr/>
        </p:nvSpPr>
        <p:spPr>
          <a:xfrm>
            <a:off x="647700" y="3840480"/>
            <a:ext cx="402336" cy="40233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48625" name="Rounded Rectangle 21"/>
          <p:cNvSpPr/>
          <p:nvPr/>
        </p:nvSpPr>
        <p:spPr>
          <a:xfrm>
            <a:off x="1152144" y="3666744"/>
            <a:ext cx="7589520" cy="749808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Agricultural Planners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Plan resource allocation based on seasonal conditions.</a:t>
            </a:r>
          </a:p>
        </p:txBody>
      </p:sp>
      <p:sp>
        <p:nvSpPr>
          <p:cNvPr id="1048626" name="Oval 22"/>
          <p:cNvSpPr/>
          <p:nvPr/>
        </p:nvSpPr>
        <p:spPr>
          <a:xfrm>
            <a:off x="603504" y="4736592"/>
            <a:ext cx="402336" cy="402336"/>
          </a:xfrm>
          <a:prstGeom prst="ellipse">
            <a:avLst/>
          </a:prstGeom>
          <a:solidFill>
            <a:srgbClr val="3F9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48627" name="Rounded Rectangle 23"/>
          <p:cNvSpPr/>
          <p:nvPr/>
        </p:nvSpPr>
        <p:spPr>
          <a:xfrm>
            <a:off x="1152144" y="4562856"/>
            <a:ext cx="7589520" cy="749808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1B4F72"/>
                </a:solidFill>
                <a:latin typeface="Calibri"/>
              </a:rPr>
              <a:t>Agri</a:t>
            </a:r>
            <a:r>
              <a:rPr lang="en-IN" sz="1400" b="1" dirty="0">
                <a:solidFill>
                  <a:srgbClr val="1B4F72"/>
                </a:solidFill>
                <a:latin typeface="Calibri"/>
              </a:rPr>
              <a:t>culture </a:t>
            </a:r>
            <a:r>
              <a:rPr sz="1400" b="1" dirty="0">
                <a:solidFill>
                  <a:srgbClr val="1B4F72"/>
                </a:solidFill>
                <a:latin typeface="Calibri"/>
              </a:rPr>
              <a:t>businesses</a:t>
            </a:r>
          </a:p>
          <a:p>
            <a:pPr algn="l"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Calibri"/>
              </a:rPr>
              <a:t>Understand production, market price and profitability patterns.</a:t>
            </a:r>
          </a:p>
        </p:txBody>
      </p:sp>
      <p:sp>
        <p:nvSpPr>
          <p:cNvPr id="1048628" name="Oval 24"/>
          <p:cNvSpPr/>
          <p:nvPr/>
        </p:nvSpPr>
        <p:spPr>
          <a:xfrm>
            <a:off x="603504" y="5632704"/>
            <a:ext cx="402336" cy="40233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48629" name="Rounded Rectangle 25"/>
          <p:cNvSpPr/>
          <p:nvPr/>
        </p:nvSpPr>
        <p:spPr>
          <a:xfrm>
            <a:off x="1152144" y="5458968"/>
            <a:ext cx="7589520" cy="749808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Agricultural Researchers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Investigate relationships between environmental factors and agricultural outcomes.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097159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1048637" name="Title 8"/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1048638" name="Rounded Rectangle 16"/>
          <p:cNvSpPr/>
          <p:nvPr/>
        </p:nvSpPr>
        <p:spPr>
          <a:xfrm>
            <a:off x="1965960" y="1645920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Programming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Python</a:t>
            </a:r>
          </a:p>
        </p:txBody>
      </p:sp>
      <p:sp>
        <p:nvSpPr>
          <p:cNvPr id="1048639" name="Rounded Rectangle 17"/>
          <p:cNvSpPr/>
          <p:nvPr/>
        </p:nvSpPr>
        <p:spPr>
          <a:xfrm>
            <a:off x="4334256" y="1645920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Data Analysis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Pandas  |  NumPy</a:t>
            </a:r>
          </a:p>
        </p:txBody>
      </p:sp>
      <p:sp>
        <p:nvSpPr>
          <p:cNvPr id="1048640" name="Rounded Rectangle 18"/>
          <p:cNvSpPr/>
          <p:nvPr/>
        </p:nvSpPr>
        <p:spPr>
          <a:xfrm>
            <a:off x="6702552" y="1645920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Visualization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Matplotlib  |  Seaborn</a:t>
            </a:r>
          </a:p>
        </p:txBody>
      </p:sp>
      <p:sp>
        <p:nvSpPr>
          <p:cNvPr id="1048641" name="Rounded Rectangle 19"/>
          <p:cNvSpPr/>
          <p:nvPr/>
        </p:nvSpPr>
        <p:spPr>
          <a:xfrm>
            <a:off x="1965960" y="3209544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Statistical Analysis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SciPy</a:t>
            </a:r>
          </a:p>
        </p:txBody>
      </p:sp>
      <p:sp>
        <p:nvSpPr>
          <p:cNvPr id="1048642" name="Rounded Rectangle 20"/>
          <p:cNvSpPr/>
          <p:nvPr/>
        </p:nvSpPr>
        <p:spPr>
          <a:xfrm>
            <a:off x="4334256" y="3209544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1B4F72"/>
                </a:solidFill>
                <a:latin typeface="Calibri"/>
              </a:rPr>
              <a:t>Environment</a:t>
            </a:r>
          </a:p>
          <a:p>
            <a:pPr algn="l"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Calibri"/>
              </a:rPr>
              <a:t>Google </a:t>
            </a:r>
            <a:r>
              <a:rPr sz="1150" dirty="0" err="1">
                <a:solidFill>
                  <a:srgbClr val="333333"/>
                </a:solidFill>
                <a:latin typeface="Calibri"/>
              </a:rPr>
              <a:t>Colab</a:t>
            </a:r>
            <a:endParaRPr sz="115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048643" name="Rounded Rectangle 21"/>
          <p:cNvSpPr/>
          <p:nvPr/>
        </p:nvSpPr>
        <p:spPr>
          <a:xfrm>
            <a:off x="6702552" y="3209544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Dataset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Microsoft Excel</a:t>
            </a:r>
          </a:p>
        </p:txBody>
      </p:sp>
      <p:sp>
        <p:nvSpPr>
          <p:cNvPr id="1048644" name="Rounded Rectangle 22"/>
          <p:cNvSpPr/>
          <p:nvPr/>
        </p:nvSpPr>
        <p:spPr>
          <a:xfrm>
            <a:off x="1965960" y="4663440"/>
            <a:ext cx="6793992" cy="123444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4F72"/>
                </a:solidFill>
                <a:latin typeface="Calibri"/>
              </a:rPr>
              <a:t>Analytical Techniques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Exploratory Data Analysis        Univariate &amp; Bivariate Analysis        Multivariate Analysis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Correlation Analysis        Statistical Validation        Data Visualization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48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1048649" name="TextBox 23"/>
          <p:cNvSpPr txBox="1"/>
          <p:nvPr/>
        </p:nvSpPr>
        <p:spPr>
          <a:xfrm>
            <a:off x="713232" y="1170432"/>
            <a:ext cx="8046720" cy="266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1F6FB2"/>
                </a:solidFill>
                <a:latin typeface="Calibri"/>
              </a:rPr>
              <a:t>Overall Seasonal Performance</a:t>
            </a:r>
          </a:p>
        </p:txBody>
      </p:sp>
      <p:sp>
        <p:nvSpPr>
          <p:cNvPr id="1048650" name="Rounded Rectangle 24"/>
          <p:cNvSpPr/>
          <p:nvPr/>
        </p:nvSpPr>
        <p:spPr>
          <a:xfrm>
            <a:off x="566928" y="2084831"/>
            <a:ext cx="1920240" cy="841248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F6FB2"/>
                </a:solidFill>
                <a:latin typeface="Calibri"/>
              </a:rPr>
              <a:t>4,000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Farm Records</a:t>
            </a:r>
          </a:p>
        </p:txBody>
      </p:sp>
      <p:sp>
        <p:nvSpPr>
          <p:cNvPr id="1048651" name="Rounded Rectangle 25"/>
          <p:cNvSpPr/>
          <p:nvPr/>
        </p:nvSpPr>
        <p:spPr>
          <a:xfrm>
            <a:off x="2688336" y="2084831"/>
            <a:ext cx="1920240" cy="841248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3F9C35"/>
                </a:solidFill>
                <a:latin typeface="Calibri"/>
              </a:rPr>
              <a:t>3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Seasons</a:t>
            </a:r>
          </a:p>
        </p:txBody>
      </p:sp>
      <p:sp>
        <p:nvSpPr>
          <p:cNvPr id="1048652" name="Rounded Rectangle 26"/>
          <p:cNvSpPr/>
          <p:nvPr/>
        </p:nvSpPr>
        <p:spPr>
          <a:xfrm>
            <a:off x="4809744" y="2084831"/>
            <a:ext cx="1920240" cy="841248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B4F72"/>
                </a:solidFill>
                <a:latin typeface="Calibri"/>
              </a:rPr>
              <a:t>8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Crops</a:t>
            </a:r>
          </a:p>
        </p:txBody>
      </p:sp>
      <p:sp>
        <p:nvSpPr>
          <p:cNvPr id="1048653" name="Rounded Rectangle 27"/>
          <p:cNvSpPr/>
          <p:nvPr/>
        </p:nvSpPr>
        <p:spPr>
          <a:xfrm>
            <a:off x="6931151" y="2084831"/>
            <a:ext cx="1920240" cy="841248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F6FB2"/>
                </a:solidFill>
                <a:latin typeface="Calibri"/>
              </a:rPr>
              <a:t>8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States</a:t>
            </a:r>
          </a:p>
        </p:txBody>
      </p:sp>
      <p:pic>
        <p:nvPicPr>
          <p:cNvPr id="2097161" name="Picture 28" descr="cell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04" y="3154680"/>
            <a:ext cx="4275286" cy="2651760"/>
          </a:xfrm>
          <a:prstGeom prst="rect">
            <a:avLst/>
          </a:prstGeom>
        </p:spPr>
      </p:pic>
      <p:sp>
        <p:nvSpPr>
          <p:cNvPr id="1048654" name="TextBox 29"/>
          <p:cNvSpPr txBox="1"/>
          <p:nvPr/>
        </p:nvSpPr>
        <p:spPr>
          <a:xfrm>
            <a:off x="566928" y="5861303"/>
            <a:ext cx="466344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  <a:latin typeface="Calibri"/>
              </a:rPr>
              <a:t>Average Yield by Season (notebook cell 24)</a:t>
            </a:r>
          </a:p>
        </p:txBody>
      </p:sp>
      <p:sp>
        <p:nvSpPr>
          <p:cNvPr id="1048655" name="TextBox 30"/>
          <p:cNvSpPr txBox="1"/>
          <p:nvPr/>
        </p:nvSpPr>
        <p:spPr>
          <a:xfrm>
            <a:off x="5532120" y="3200400"/>
            <a:ext cx="3246120" cy="228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>
                <a:solidFill>
                  <a:srgbClr val="3F9C35"/>
                </a:solidFill>
                <a:latin typeface="Calibri"/>
              </a:rPr>
              <a:t>Key Finding</a:t>
            </a:r>
          </a:p>
        </p:txBody>
      </p:sp>
      <p:sp>
        <p:nvSpPr>
          <p:cNvPr id="1048656" name="TextBox 31"/>
          <p:cNvSpPr txBox="1"/>
          <p:nvPr/>
        </p:nvSpPr>
        <p:spPr>
          <a:xfrm>
            <a:off x="5532120" y="3639312"/>
            <a:ext cx="3246120" cy="1371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  <a:latin typeface="Calibri"/>
              </a:rPr>
              <a:t>Kharif recorded the highest average yield at 5.63 tonnes/ha, followed by Rabi at 5.04 tonnes/ha and Zaid at 4.64 tonnes/ha.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B4F72"/>
                </a:solidFill>
                <a:latin typeface="Calibri"/>
              </a:rPr>
              <a:t>Kharif</a:t>
            </a:r>
            <a:r>
              <a:rPr sz="1250">
                <a:solidFill>
                  <a:srgbClr val="333333"/>
                </a:solidFill>
                <a:latin typeface="Calibri"/>
              </a:rPr>
              <a:t>  5.63 t/ha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B4F72"/>
                </a:solidFill>
                <a:latin typeface="Calibri"/>
              </a:rPr>
              <a:t>Rabi</a:t>
            </a:r>
            <a:r>
              <a:rPr sz="1250">
                <a:solidFill>
                  <a:srgbClr val="333333"/>
                </a:solidFill>
                <a:latin typeface="Calibri"/>
              </a:rPr>
              <a:t>  5.04 t/ha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B4F72"/>
                </a:solidFill>
                <a:latin typeface="Calibri"/>
              </a:rPr>
              <a:t>Zaid</a:t>
            </a:r>
            <a:r>
              <a:rPr sz="1250">
                <a:solidFill>
                  <a:srgbClr val="333333"/>
                </a:solidFill>
                <a:latin typeface="Calibri"/>
              </a:rPr>
              <a:t>  4.64 t/ha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57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1048658" name="TextBox 30"/>
          <p:cNvSpPr txBox="1"/>
          <p:nvPr/>
        </p:nvSpPr>
        <p:spPr>
          <a:xfrm>
            <a:off x="713232" y="1170432"/>
            <a:ext cx="8046720" cy="266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1F6FB2"/>
                </a:solidFill>
                <a:latin typeface="Calibri"/>
              </a:rPr>
              <a:t>Environmental Conditions Across Seasons</a:t>
            </a:r>
          </a:p>
        </p:txBody>
      </p:sp>
      <p:pic>
        <p:nvPicPr>
          <p:cNvPr id="2097163" name="Picture 31" descr="cell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80" y="1572768"/>
            <a:ext cx="3759303" cy="2331720"/>
          </a:xfrm>
          <a:prstGeom prst="rect">
            <a:avLst/>
          </a:prstGeom>
        </p:spPr>
      </p:pic>
      <p:sp>
        <p:nvSpPr>
          <p:cNvPr id="1048659" name="TextBox 32"/>
          <p:cNvSpPr txBox="1"/>
          <p:nvPr/>
        </p:nvSpPr>
        <p:spPr>
          <a:xfrm>
            <a:off x="566928" y="3950207"/>
            <a:ext cx="3950208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  <a:latin typeface="Calibri"/>
              </a:rPr>
              <a:t>Average rainfall by season</a:t>
            </a:r>
          </a:p>
        </p:txBody>
      </p:sp>
      <p:pic>
        <p:nvPicPr>
          <p:cNvPr id="2097164" name="Picture 33" descr="cell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878" y="1572768"/>
            <a:ext cx="3892786" cy="2331720"/>
          </a:xfrm>
          <a:prstGeom prst="rect">
            <a:avLst/>
          </a:prstGeom>
        </p:spPr>
      </p:pic>
      <p:sp>
        <p:nvSpPr>
          <p:cNvPr id="1048660" name="TextBox 34"/>
          <p:cNvSpPr txBox="1"/>
          <p:nvPr/>
        </p:nvSpPr>
        <p:spPr>
          <a:xfrm>
            <a:off x="4773168" y="3950207"/>
            <a:ext cx="3950208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  <a:latin typeface="Calibri"/>
              </a:rPr>
              <a:t>Temperature, humidity, sunlight, soil moisture</a:t>
            </a:r>
          </a:p>
        </p:txBody>
      </p:sp>
      <p:sp>
        <p:nvSpPr>
          <p:cNvPr id="1048661" name="TextBox 35"/>
          <p:cNvSpPr txBox="1"/>
          <p:nvPr/>
        </p:nvSpPr>
        <p:spPr>
          <a:xfrm>
            <a:off x="566928" y="4224528"/>
            <a:ext cx="4800600" cy="1257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Rainfall  </a:t>
            </a:r>
            <a:r>
              <a:rPr sz="1150">
                <a:solidFill>
                  <a:srgbClr val="333333"/>
                </a:solidFill>
                <a:latin typeface="Calibri"/>
              </a:rPr>
              <a:t>Kharif 849.20 mm, Rabi 437.62 mm, Zaid 304.65 mm.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Temperature  </a:t>
            </a:r>
            <a:r>
              <a:rPr sz="1150">
                <a:solidFill>
                  <a:srgbClr val="333333"/>
                </a:solidFill>
                <a:latin typeface="Calibri"/>
              </a:rPr>
              <a:t>Zaid is hottest at 31.04 °C; Rabi coolest at 23.49 °C.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Humidity / soil moisture  </a:t>
            </a:r>
            <a:r>
              <a:rPr sz="1150">
                <a:solidFill>
                  <a:srgbClr val="333333"/>
                </a:solidFill>
                <a:latin typeface="Calibri"/>
              </a:rPr>
              <a:t>Highest in Kharif (71.81% / 31.15%).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Insight  </a:t>
            </a:r>
            <a:r>
              <a:rPr sz="1150">
                <a:solidFill>
                  <a:srgbClr val="333333"/>
                </a:solidFill>
                <a:latin typeface="Calibri"/>
              </a:rPr>
              <a:t>Kharif is characterized by substantially higher rainfall, humidity and soil moisture, while Zaid has the highest temperature and sunlight exposure. Rabi shows intermediate environmental conditions.</a:t>
            </a:r>
          </a:p>
        </p:txBody>
      </p:sp>
      <p:sp>
        <p:nvSpPr>
          <p:cNvPr id="1048662" name="TextBox 36"/>
          <p:cNvSpPr txBox="1"/>
          <p:nvPr/>
        </p:nvSpPr>
        <p:spPr>
          <a:xfrm>
            <a:off x="5577840" y="4242816"/>
            <a:ext cx="3200400" cy="13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>
                <a:solidFill>
                  <a:srgbClr val="5A5A5A"/>
                </a:solidFill>
                <a:latin typeface="Calibri"/>
              </a:rPr>
              <a:t>Code - environment_summary</a:t>
            </a:r>
          </a:p>
        </p:txBody>
      </p:sp>
      <p:sp>
        <p:nvSpPr>
          <p:cNvPr id="1048663" name="Rounded Rectangle 37"/>
          <p:cNvSpPr/>
          <p:nvPr/>
        </p:nvSpPr>
        <p:spPr>
          <a:xfrm>
            <a:off x="5577840" y="4480560"/>
            <a:ext cx="3200400" cy="1078992"/>
          </a:xfrm>
          <a:prstGeom prst="roundRect">
            <a:avLst>
              <a:gd name="adj" fmla="val 6000"/>
            </a:avLst>
          </a:prstGeom>
          <a:solidFill>
            <a:srgbClr val="2B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82296" rIns="73152" bIns="54864" rtlCol="0" anchor="t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environment_summary = df.groupby('Season').agg({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'Rainfall_mm': 'mean',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'Avg_Temperature_C': 'mean',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'Humidity_pct': 'mean',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'Sunlight_Hours_Day': 'mean',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'Soil_Moisture_pct': 'mean'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}).round(2)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6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1048665" name="TextBox 30"/>
          <p:cNvSpPr txBox="1"/>
          <p:nvPr/>
        </p:nvSpPr>
        <p:spPr>
          <a:xfrm>
            <a:off x="713232" y="1170432"/>
            <a:ext cx="8046720" cy="266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1F6FB2"/>
                </a:solidFill>
                <a:latin typeface="Calibri"/>
              </a:rPr>
              <a:t>Crop and Resource Performance</a:t>
            </a:r>
          </a:p>
        </p:txBody>
      </p:sp>
      <p:pic>
        <p:nvPicPr>
          <p:cNvPr id="2097166" name="Picture 31" descr="cell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52" y="1572768"/>
            <a:ext cx="3674958" cy="2377440"/>
          </a:xfrm>
          <a:prstGeom prst="rect">
            <a:avLst/>
          </a:prstGeom>
        </p:spPr>
      </p:pic>
      <p:sp>
        <p:nvSpPr>
          <p:cNvPr id="1048666" name="TextBox 32"/>
          <p:cNvSpPr txBox="1"/>
          <p:nvPr/>
        </p:nvSpPr>
        <p:spPr>
          <a:xfrm>
            <a:off x="566928" y="3995928"/>
            <a:ext cx="3950208" cy="13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  <a:latin typeface="Calibri"/>
              </a:rPr>
              <a:t>Crop x Season yield heatmap (t/ha)</a:t>
            </a:r>
          </a:p>
        </p:txBody>
      </p:sp>
      <p:pic>
        <p:nvPicPr>
          <p:cNvPr id="2097167" name="Picture 33" descr="water_e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72768"/>
            <a:ext cx="3803904" cy="2377440"/>
          </a:xfrm>
          <a:prstGeom prst="rect">
            <a:avLst/>
          </a:prstGeom>
        </p:spPr>
      </p:pic>
      <p:sp>
        <p:nvSpPr>
          <p:cNvPr id="1048667" name="TextBox 34"/>
          <p:cNvSpPr txBox="1"/>
          <p:nvPr/>
        </p:nvSpPr>
        <p:spPr>
          <a:xfrm>
            <a:off x="4773168" y="3995928"/>
            <a:ext cx="3950208" cy="13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  <a:latin typeface="Calibri"/>
              </a:rPr>
              <a:t>Water efficiency by season (t per 1,000 m3)</a:t>
            </a:r>
          </a:p>
        </p:txBody>
      </p:sp>
      <p:sp>
        <p:nvSpPr>
          <p:cNvPr id="1048668" name="TextBox 35"/>
          <p:cNvSpPr txBox="1"/>
          <p:nvPr/>
        </p:nvSpPr>
        <p:spPr>
          <a:xfrm>
            <a:off x="566928" y="4224528"/>
            <a:ext cx="4800600" cy="1168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Sugarcane dominates  </a:t>
            </a:r>
            <a:r>
              <a:rPr sz="1150">
                <a:solidFill>
                  <a:srgbClr val="333333"/>
                </a:solidFill>
                <a:latin typeface="Calibri"/>
              </a:rPr>
              <a:t>53.46 t/ha in Kharif vs 43.29 (Rabi) and 38.42 (Zaid) - a heatmap handles this scale far better than a grouped bar chart.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Every crop peaks in Kharif  </a:t>
            </a:r>
            <a:r>
              <a:rPr sz="1150">
                <a:solidFill>
                  <a:srgbClr val="333333"/>
                </a:solidFill>
                <a:latin typeface="Calibri"/>
              </a:rPr>
              <a:t>Maize 2.97, Rice 2.70, Wheat 2.25 t/ha.</a:t>
            </a:r>
          </a:p>
          <a:p>
            <a:pPr algn="l">
              <a:spcAft>
                <a:spcPts val="7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Insight  </a:t>
            </a:r>
            <a:r>
              <a:rPr sz="1150">
                <a:solidFill>
                  <a:srgbClr val="333333"/>
                </a:solidFill>
                <a:latin typeface="Calibri"/>
              </a:rPr>
              <a:t>Kharif combines the highest average water efficiency (5.89) with the highest yield, while Zaid records the highest average water use (6,420 m3) but the lowest water efficiency (4.41).</a:t>
            </a:r>
          </a:p>
        </p:txBody>
      </p:sp>
      <p:sp>
        <p:nvSpPr>
          <p:cNvPr id="1048669" name="TextBox 36"/>
          <p:cNvSpPr txBox="1"/>
          <p:nvPr/>
        </p:nvSpPr>
        <p:spPr>
          <a:xfrm>
            <a:off x="5577840" y="4242816"/>
            <a:ext cx="3200400" cy="13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>
                <a:solidFill>
                  <a:srgbClr val="5A5A5A"/>
                </a:solidFill>
                <a:latin typeface="Calibri"/>
              </a:rPr>
              <a:t>Code - crop x season heatmap</a:t>
            </a:r>
          </a:p>
        </p:txBody>
      </p:sp>
      <p:sp>
        <p:nvSpPr>
          <p:cNvPr id="1048670" name="Rounded Rectangle 37"/>
          <p:cNvSpPr/>
          <p:nvPr/>
        </p:nvSpPr>
        <p:spPr>
          <a:xfrm>
            <a:off x="5577840" y="4480560"/>
            <a:ext cx="3200400" cy="1188720"/>
          </a:xfrm>
          <a:prstGeom prst="roundRect">
            <a:avLst>
              <a:gd name="adj" fmla="val 6000"/>
            </a:avLst>
          </a:prstGeom>
          <a:solidFill>
            <a:srgbClr val="2B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82296" rIns="73152" bIns="54864" rtlCol="0" anchor="t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crop_season_yield = pd.pivot_table(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df, values='Yield_Tonnes_Ha',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index='Crop', columns='Season',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aggfunc='mean').round(2)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sns.heatmap(crop_season_yield,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        annot=True, fmt='.2f')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71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1048672" name="TextBox 30"/>
          <p:cNvSpPr txBox="1"/>
          <p:nvPr/>
        </p:nvSpPr>
        <p:spPr>
          <a:xfrm>
            <a:off x="713232" y="1170432"/>
            <a:ext cx="8046720" cy="266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1F6FB2"/>
                </a:solidFill>
                <a:latin typeface="Calibri"/>
              </a:rPr>
              <a:t>Economic Performance Across Seasons</a:t>
            </a:r>
          </a:p>
        </p:txBody>
      </p:sp>
      <p:pic>
        <p:nvPicPr>
          <p:cNvPr id="2097169" name="Picture 31" descr="cell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572768"/>
            <a:ext cx="3611880" cy="2240280"/>
          </a:xfrm>
          <a:prstGeom prst="rect">
            <a:avLst/>
          </a:prstGeom>
        </p:spPr>
      </p:pic>
      <p:sp>
        <p:nvSpPr>
          <p:cNvPr id="1048673" name="TextBox 32"/>
          <p:cNvSpPr txBox="1"/>
          <p:nvPr/>
        </p:nvSpPr>
        <p:spPr>
          <a:xfrm>
            <a:off x="566928" y="3858768"/>
            <a:ext cx="3950208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  <a:latin typeface="Calibri"/>
              </a:rPr>
              <a:t>Average market price by season</a:t>
            </a:r>
          </a:p>
        </p:txBody>
      </p:sp>
      <p:pic>
        <p:nvPicPr>
          <p:cNvPr id="2097170" name="Picture 33" descr="cell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598110"/>
            <a:ext cx="3950208" cy="2189594"/>
          </a:xfrm>
          <a:prstGeom prst="rect">
            <a:avLst/>
          </a:prstGeom>
        </p:spPr>
      </p:pic>
      <p:sp>
        <p:nvSpPr>
          <p:cNvPr id="1048674" name="TextBox 34"/>
          <p:cNvSpPr txBox="1"/>
          <p:nvPr/>
        </p:nvSpPr>
        <p:spPr>
          <a:xfrm>
            <a:off x="4773168" y="3833425"/>
            <a:ext cx="3950208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  <a:latin typeface="Calibri"/>
              </a:rPr>
              <a:t>Revenue vs cost vs profit by season</a:t>
            </a:r>
          </a:p>
        </p:txBody>
      </p:sp>
      <p:sp>
        <p:nvSpPr>
          <p:cNvPr id="1048675" name="TextBox 35"/>
          <p:cNvSpPr txBox="1"/>
          <p:nvPr/>
        </p:nvSpPr>
        <p:spPr>
          <a:xfrm>
            <a:off x="566928" y="4096512"/>
            <a:ext cx="4800600" cy="1092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Market price  </a:t>
            </a:r>
            <a:r>
              <a:rPr sz="1150">
                <a:solidFill>
                  <a:srgbClr val="333333"/>
                </a:solidFill>
                <a:latin typeface="Calibri"/>
              </a:rPr>
              <a:t>₹44,850.91 (Kharif), ₹44,747.97 (Rabi), ₹44,212.03 (Zaid) per tonne - prices remain close across seasons, so the seasonal difference in profitability is not explained by market price alone.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Main finding  </a:t>
            </a:r>
            <a:r>
              <a:rPr sz="1150">
                <a:solidFill>
                  <a:srgbClr val="333333"/>
                </a:solidFill>
                <a:latin typeface="Calibri"/>
              </a:rPr>
              <a:t>Kharif generated the highest average revenue and profit, while Zaid was the only season with negative average profit because average cost (₹543,977) exceeded average revenue (₹519,172).</a:t>
            </a:r>
          </a:p>
        </p:txBody>
      </p:sp>
      <p:sp>
        <p:nvSpPr>
          <p:cNvPr id="1048676" name="Rounded Rectangle 36"/>
          <p:cNvSpPr/>
          <p:nvPr/>
        </p:nvSpPr>
        <p:spPr>
          <a:xfrm>
            <a:off x="5623560" y="4160520"/>
            <a:ext cx="1005840" cy="777240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F9C35"/>
                </a:solidFill>
                <a:latin typeface="Calibri"/>
              </a:rPr>
              <a:t>25.17%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Kharif margin</a:t>
            </a:r>
          </a:p>
        </p:txBody>
      </p:sp>
      <p:sp>
        <p:nvSpPr>
          <p:cNvPr id="1048677" name="Rounded Rectangle 37"/>
          <p:cNvSpPr/>
          <p:nvPr/>
        </p:nvSpPr>
        <p:spPr>
          <a:xfrm>
            <a:off x="6702552" y="4160520"/>
            <a:ext cx="1005840" cy="777240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6FB2"/>
                </a:solidFill>
                <a:latin typeface="Calibri"/>
              </a:rPr>
              <a:t>14.58%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Rabi margin</a:t>
            </a:r>
          </a:p>
        </p:txBody>
      </p:sp>
      <p:sp>
        <p:nvSpPr>
          <p:cNvPr id="1048678" name="Rounded Rectangle 38"/>
          <p:cNvSpPr/>
          <p:nvPr/>
        </p:nvSpPr>
        <p:spPr>
          <a:xfrm>
            <a:off x="7781544" y="4160520"/>
            <a:ext cx="1005840" cy="777240"/>
          </a:xfrm>
          <a:prstGeom prst="roundRect">
            <a:avLst>
              <a:gd name="adj" fmla="val 10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-4.78%</a:t>
            </a:r>
          </a:p>
          <a:p>
            <a:pPr algn="ctr"/>
            <a:r>
              <a:rPr sz="1050">
                <a:solidFill>
                  <a:srgbClr val="5A5A5A"/>
                </a:solidFill>
                <a:latin typeface="Calibri"/>
              </a:rPr>
              <a:t>Zaid margin</a:t>
            </a:r>
          </a:p>
        </p:txBody>
      </p:sp>
      <p:sp>
        <p:nvSpPr>
          <p:cNvPr id="1048679" name="TextBox 39"/>
          <p:cNvSpPr txBox="1"/>
          <p:nvPr/>
        </p:nvSpPr>
        <p:spPr>
          <a:xfrm>
            <a:off x="5623560" y="5020056"/>
            <a:ext cx="3154680" cy="13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>
                <a:solidFill>
                  <a:srgbClr val="5A5A5A"/>
                </a:solidFill>
                <a:latin typeface="Calibri"/>
              </a:rPr>
              <a:t>Code - economic summary</a:t>
            </a:r>
          </a:p>
        </p:txBody>
      </p:sp>
      <p:sp>
        <p:nvSpPr>
          <p:cNvPr id="1048680" name="Rounded Rectangle 40"/>
          <p:cNvSpPr/>
          <p:nvPr/>
        </p:nvSpPr>
        <p:spPr>
          <a:xfrm>
            <a:off x="5623560" y="5257800"/>
            <a:ext cx="3154680" cy="804672"/>
          </a:xfrm>
          <a:prstGeom prst="roundRect">
            <a:avLst>
              <a:gd name="adj" fmla="val 6000"/>
            </a:avLst>
          </a:prstGeom>
          <a:solidFill>
            <a:srgbClr val="2B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82296" rIns="73152" bIns="54864" rtlCol="0" anchor="t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economic_financials = df.groupby('Season').agg({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'Total_Cost_INR': 'mean',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'Revenue_INR': 'mean',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'Profit_INR': 'mean'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}).round(2)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81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IN" dirty="0"/>
          </a:p>
        </p:txBody>
      </p:sp>
      <p:sp>
        <p:nvSpPr>
          <p:cNvPr id="1048682" name="TextBox 30"/>
          <p:cNvSpPr txBox="1"/>
          <p:nvPr/>
        </p:nvSpPr>
        <p:spPr>
          <a:xfrm>
            <a:off x="713232" y="1170432"/>
            <a:ext cx="8046720" cy="266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>
                <a:solidFill>
                  <a:srgbClr val="1F6FB2"/>
                </a:solidFill>
                <a:latin typeface="Calibri"/>
              </a:rPr>
              <a:t>Regional and Statistical Analysis</a:t>
            </a:r>
          </a:p>
        </p:txBody>
      </p:sp>
      <p:pic>
        <p:nvPicPr>
          <p:cNvPr id="2097172" name="Picture 31" descr="cell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97" y="1572768"/>
            <a:ext cx="3662869" cy="2377440"/>
          </a:xfrm>
          <a:prstGeom prst="rect">
            <a:avLst/>
          </a:prstGeom>
        </p:spPr>
      </p:pic>
      <p:sp>
        <p:nvSpPr>
          <p:cNvPr id="1048683" name="TextBox 32"/>
          <p:cNvSpPr txBox="1"/>
          <p:nvPr/>
        </p:nvSpPr>
        <p:spPr>
          <a:xfrm>
            <a:off x="566928" y="3995928"/>
            <a:ext cx="3950208" cy="13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  <a:latin typeface="Calibri"/>
              </a:rPr>
              <a:t>State x Season yield heatmap (t/ha)</a:t>
            </a:r>
          </a:p>
        </p:txBody>
      </p:sp>
      <p:pic>
        <p:nvPicPr>
          <p:cNvPr id="2097173" name="Picture 33" descr="cell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556" y="1572768"/>
            <a:ext cx="3739431" cy="2377440"/>
          </a:xfrm>
          <a:prstGeom prst="rect">
            <a:avLst/>
          </a:prstGeom>
        </p:spPr>
      </p:pic>
      <p:sp>
        <p:nvSpPr>
          <p:cNvPr id="1048684" name="TextBox 34"/>
          <p:cNvSpPr txBox="1"/>
          <p:nvPr/>
        </p:nvSpPr>
        <p:spPr>
          <a:xfrm>
            <a:off x="4773168" y="3995928"/>
            <a:ext cx="3950208" cy="13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i="1">
                <a:solidFill>
                  <a:srgbClr val="5A5A5A"/>
                </a:solidFill>
                <a:latin typeface="Calibri"/>
              </a:rPr>
              <a:t>Crop x Season profitability heatmap (₹)</a:t>
            </a:r>
          </a:p>
        </p:txBody>
      </p:sp>
      <p:sp>
        <p:nvSpPr>
          <p:cNvPr id="1048685" name="TextBox 35"/>
          <p:cNvSpPr txBox="1"/>
          <p:nvPr/>
        </p:nvSpPr>
        <p:spPr>
          <a:xfrm>
            <a:off x="566928" y="4224528"/>
            <a:ext cx="4800600" cy="1257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Regional finding  </a:t>
            </a:r>
            <a:r>
              <a:rPr sz="1150">
                <a:solidFill>
                  <a:srgbClr val="333333"/>
                </a:solidFill>
                <a:latin typeface="Calibri"/>
              </a:rPr>
              <a:t>Seasonal performance varies by region. Punjab records its strongest yield in Rabi (8.61 t/ha) while Karnataka records its strongest yield in Zaid (6.62 t/ha), indicating that regional conditions influence seasonal performance.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1B4F72"/>
                </a:solidFill>
                <a:latin typeface="Calibri"/>
              </a:rPr>
              <a:t>Crop finding  </a:t>
            </a:r>
            <a:r>
              <a:rPr sz="1150">
                <a:solidFill>
                  <a:srgbClr val="333333"/>
                </a:solidFill>
                <a:latin typeface="Calibri"/>
              </a:rPr>
              <a:t>Sugarcane and Chilli are the strongest profit-generating crops across all three seasons, while several crops show substantially weaker profitability in Zaid.</a:t>
            </a:r>
          </a:p>
        </p:txBody>
      </p:sp>
      <p:sp>
        <p:nvSpPr>
          <p:cNvPr id="1048686" name="Rounded Rectangle 36"/>
          <p:cNvSpPr/>
          <p:nvPr/>
        </p:nvSpPr>
        <p:spPr>
          <a:xfrm>
            <a:off x="5577840" y="4224528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4F72"/>
                </a:solidFill>
                <a:latin typeface="Calibri"/>
              </a:rPr>
              <a:t>One-way ANOVA on farm profit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F = 34.29    p = 1.71 x 10⁻¹⁵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Statistically significant difference across seasons (p &lt; 0.001).</a:t>
            </a:r>
          </a:p>
        </p:txBody>
      </p:sp>
      <p:sp>
        <p:nvSpPr>
          <p:cNvPr id="1048687" name="TextBox 37"/>
          <p:cNvSpPr txBox="1"/>
          <p:nvPr/>
        </p:nvSpPr>
        <p:spPr>
          <a:xfrm>
            <a:off x="5577840" y="5248656"/>
            <a:ext cx="3200400" cy="13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>
                <a:solidFill>
                  <a:srgbClr val="5A5A5A"/>
                </a:solidFill>
                <a:latin typeface="Calibri"/>
              </a:rPr>
              <a:t>Code - ANOVA</a:t>
            </a:r>
          </a:p>
        </p:txBody>
      </p:sp>
      <p:sp>
        <p:nvSpPr>
          <p:cNvPr id="1048688" name="Rounded Rectangle 38"/>
          <p:cNvSpPr/>
          <p:nvPr/>
        </p:nvSpPr>
        <p:spPr>
          <a:xfrm>
            <a:off x="5577840" y="5486400"/>
            <a:ext cx="3200400" cy="868680"/>
          </a:xfrm>
          <a:prstGeom prst="roundRect">
            <a:avLst>
              <a:gd name="adj" fmla="val 6000"/>
            </a:avLst>
          </a:prstGeom>
          <a:solidFill>
            <a:srgbClr val="2B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82296" rIns="73152" bIns="54864" rtlCol="0" anchor="t"/>
          <a:lstStyle/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from scipy.stats import f_oneway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anova_result = f_oneway(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df[df['Season']=='Kharif']['Profit_INR'],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df[df['Season']=='Rabi']['Profit_INR'],</a:t>
            </a:r>
          </a:p>
          <a:p>
            <a:pPr algn="l">
              <a:spcAft>
                <a:spcPts val="0"/>
              </a:spcAft>
            </a:pPr>
            <a:r>
              <a:rPr sz="800">
                <a:solidFill>
                  <a:srgbClr val="E8EEF2"/>
                </a:solidFill>
                <a:latin typeface="Courier New"/>
              </a:rPr>
              <a:t>    df[df['Season']=='Zaid']['Profit_INR'])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4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89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1048690" name="Rounded Rectangle 23"/>
          <p:cNvSpPr/>
          <p:nvPr/>
        </p:nvSpPr>
        <p:spPr>
          <a:xfrm>
            <a:off x="566928" y="155448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Predictive Yield Forecasting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Develop models to forecast crop yield using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historical environmental and farming data.</a:t>
            </a:r>
          </a:p>
        </p:txBody>
      </p:sp>
      <p:sp>
        <p:nvSpPr>
          <p:cNvPr id="1048691" name="Rounded Rectangle 24"/>
          <p:cNvSpPr/>
          <p:nvPr/>
        </p:nvSpPr>
        <p:spPr>
          <a:xfrm>
            <a:off x="4818888" y="155448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Market Price Forecasting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Incorporate historical market data to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anticipate price movements.</a:t>
            </a:r>
          </a:p>
        </p:txBody>
      </p:sp>
      <p:sp>
        <p:nvSpPr>
          <p:cNvPr id="1048692" name="Rounded Rectangle 25"/>
          <p:cNvSpPr/>
          <p:nvPr/>
        </p:nvSpPr>
        <p:spPr>
          <a:xfrm>
            <a:off x="566928" y="3227832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Regional Recommendation System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Develop region-specific crop and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season recommendations.</a:t>
            </a:r>
          </a:p>
        </p:txBody>
      </p:sp>
      <p:sp>
        <p:nvSpPr>
          <p:cNvPr id="1048693" name="Rounded Rectangle 26"/>
          <p:cNvSpPr/>
          <p:nvPr/>
        </p:nvSpPr>
        <p:spPr>
          <a:xfrm>
            <a:off x="4818888" y="3227832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Advanced Water Management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Build models to optimize irrigation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and water efficiency.</a:t>
            </a:r>
          </a:p>
        </p:txBody>
      </p:sp>
      <p:sp>
        <p:nvSpPr>
          <p:cNvPr id="1048694" name="Rounded Rectangle 27"/>
          <p:cNvSpPr/>
          <p:nvPr/>
        </p:nvSpPr>
        <p:spPr>
          <a:xfrm>
            <a:off x="566928" y="4901184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Real-Time Data Integration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Incorporate weather, soil and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satellite-based agricultural data.</a:t>
            </a:r>
          </a:p>
        </p:txBody>
      </p:sp>
      <p:sp>
        <p:nvSpPr>
          <p:cNvPr id="1048695" name="Rounded Rectangle 28"/>
          <p:cNvSpPr/>
          <p:nvPr/>
        </p:nvSpPr>
        <p:spPr>
          <a:xfrm>
            <a:off x="4818888" y="4901184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9525">
            <a:solidFill>
              <a:srgbClr val="D3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4F72"/>
                </a:solidFill>
                <a:latin typeface="Calibri"/>
              </a:rPr>
              <a:t>Interactive Dashboard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Develop a Power BI dashboard for continuous</a:t>
            </a:r>
          </a:p>
          <a:p>
            <a:pPr algn="l"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Calibri"/>
              </a:rPr>
              <a:t>monitoring and decision support.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5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696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1048697" name="TextBox 2"/>
          <p:cNvSpPr txBox="1"/>
          <p:nvPr/>
        </p:nvSpPr>
        <p:spPr>
          <a:xfrm>
            <a:off x="647700" y="1440181"/>
            <a:ext cx="65215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https://github.com/harshkrsingh2/Seasonal-Agriculture-Performance-Analysis-By-Harsh-Kumar-Singh-</a:t>
            </a:r>
            <a:endParaRPr lang="en-US" sz="2000" u="sng" dirty="0">
              <a:solidFill>
                <a:srgbClr val="0070C0"/>
              </a:solidFill>
            </a:endParaRPr>
          </a:p>
        </p:txBody>
      </p:sp>
      <p:sp>
        <p:nvSpPr>
          <p:cNvPr id="1048698" name="TextBox 23"/>
          <p:cNvSpPr txBox="1"/>
          <p:nvPr/>
        </p:nvSpPr>
        <p:spPr>
          <a:xfrm>
            <a:off x="731520" y="2608747"/>
            <a:ext cx="786384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dirty="0">
                <a:solidFill>
                  <a:srgbClr val="1F6FB2"/>
                </a:solidFill>
                <a:latin typeface="Calibri"/>
              </a:rPr>
              <a:t>Seasonal Agriculture Performance Analysis</a:t>
            </a:r>
          </a:p>
        </p:txBody>
      </p:sp>
      <p:sp>
        <p:nvSpPr>
          <p:cNvPr id="1048699" name="TextBox 24"/>
          <p:cNvSpPr txBox="1"/>
          <p:nvPr/>
        </p:nvSpPr>
        <p:spPr>
          <a:xfrm>
            <a:off x="731520" y="2933699"/>
            <a:ext cx="7863840" cy="381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dirty="0">
                <a:solidFill>
                  <a:srgbClr val="333333"/>
                </a:solidFill>
                <a:latin typeface="Calibri"/>
              </a:rPr>
              <a:t>Complete Python analysis notebook, data-cleaning workflow, visualizations, statistical analysis, key insights, recommendations and conclusion.</a:t>
            </a:r>
          </a:p>
        </p:txBody>
      </p:sp>
      <p:sp>
        <p:nvSpPr>
          <p:cNvPr id="1048700" name="TextBox 25"/>
          <p:cNvSpPr txBox="1"/>
          <p:nvPr/>
        </p:nvSpPr>
        <p:spPr>
          <a:xfrm>
            <a:off x="731520" y="3739896"/>
            <a:ext cx="4846320" cy="139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>
                <a:solidFill>
                  <a:srgbClr val="5A5A5A"/>
                </a:solidFill>
                <a:latin typeface="Calibri"/>
              </a:rPr>
              <a:t>Repository structure</a:t>
            </a:r>
          </a:p>
        </p:txBody>
      </p:sp>
      <p:sp>
        <p:nvSpPr>
          <p:cNvPr id="1048701" name="Rounded Rectangle 26"/>
          <p:cNvSpPr/>
          <p:nvPr/>
        </p:nvSpPr>
        <p:spPr>
          <a:xfrm>
            <a:off x="731520" y="3977639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2B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82296" rIns="73152" bIns="54864" rtlCol="0" anchor="t"/>
          <a:lstStyle/>
          <a:p>
            <a:pPr algn="l">
              <a:spcAft>
                <a:spcPts val="0"/>
              </a:spcAft>
            </a:pPr>
            <a:r>
              <a:rPr sz="900" dirty="0">
                <a:solidFill>
                  <a:srgbClr val="E8EEF2"/>
                </a:solidFill>
                <a:latin typeface="Courier New"/>
              </a:rPr>
              <a:t>Seasonal-Agriculture-Performance-Analysis</a:t>
            </a:r>
            <a:r>
              <a:rPr lang="en-IN" sz="900" dirty="0">
                <a:solidFill>
                  <a:srgbClr val="E8EEF2"/>
                </a:solidFill>
                <a:latin typeface="Courier New"/>
              </a:rPr>
              <a:t> By Harsh Kumar Singh</a:t>
            </a:r>
            <a:r>
              <a:rPr sz="900" dirty="0">
                <a:solidFill>
                  <a:srgbClr val="E8EEF2"/>
                </a:solidFill>
                <a:latin typeface="Courier New"/>
              </a:rPr>
              <a:t>/</a:t>
            </a:r>
          </a:p>
          <a:p>
            <a:pPr algn="l">
              <a:spcAft>
                <a:spcPts val="0"/>
              </a:spcAft>
            </a:pPr>
            <a:r>
              <a:rPr sz="900" dirty="0">
                <a:solidFill>
                  <a:srgbClr val="E8EEF2"/>
                </a:solidFill>
                <a:latin typeface="Courier New"/>
              </a:rPr>
              <a:t>|</a:t>
            </a:r>
          </a:p>
          <a:p>
            <a:pPr algn="l">
              <a:spcAft>
                <a:spcPts val="0"/>
              </a:spcAft>
            </a:pPr>
            <a:r>
              <a:rPr sz="900" dirty="0">
                <a:solidFill>
                  <a:srgbClr val="E8EEF2"/>
                </a:solidFill>
                <a:latin typeface="Courier New"/>
              </a:rPr>
              <a:t>|-- Harsh_Kumar_Singh__</a:t>
            </a:r>
            <a:r>
              <a:rPr sz="900" dirty="0" err="1">
                <a:solidFill>
                  <a:srgbClr val="E8EEF2"/>
                </a:solidFill>
                <a:latin typeface="Courier New"/>
              </a:rPr>
              <a:t>VOIS_Analysis.ipynb</a:t>
            </a:r>
            <a:endParaRPr sz="900" dirty="0">
              <a:solidFill>
                <a:srgbClr val="E8EEF2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r>
              <a:rPr sz="900" dirty="0">
                <a:solidFill>
                  <a:srgbClr val="E8EEF2"/>
                </a:solidFill>
                <a:latin typeface="Courier New"/>
              </a:rPr>
              <a:t>|-- seasonal_agriculture_performance_dataset.xlsx</a:t>
            </a:r>
          </a:p>
          <a:p>
            <a:pPr algn="l">
              <a:spcAft>
                <a:spcPts val="0"/>
              </a:spcAft>
            </a:pPr>
            <a:r>
              <a:rPr sz="900" dirty="0">
                <a:solidFill>
                  <a:srgbClr val="E8EEF2"/>
                </a:solidFill>
                <a:latin typeface="Courier New"/>
              </a:rPr>
              <a:t>|-- README.md</a:t>
            </a:r>
            <a:endParaRPr lang="en-IN" sz="900" dirty="0">
              <a:solidFill>
                <a:srgbClr val="E8EEF2"/>
              </a:solidFill>
              <a:latin typeface="Courier New"/>
            </a:endParaRPr>
          </a:p>
          <a:p>
            <a:pPr algn="l">
              <a:spcAft>
                <a:spcPts val="0"/>
              </a:spcAft>
            </a:pPr>
            <a:r>
              <a:rPr lang="en-IN" sz="900" dirty="0">
                <a:solidFill>
                  <a:srgbClr val="E8EEF2"/>
                </a:solidFill>
                <a:latin typeface="Courier New"/>
              </a:rPr>
              <a:t>|-- </a:t>
            </a:r>
            <a:r>
              <a:rPr lang="en-IN" sz="900" dirty="0" err="1">
                <a:solidFill>
                  <a:srgbClr val="E8EEF2"/>
                </a:solidFill>
                <a:latin typeface="Courier New"/>
              </a:rPr>
              <a:t>VOIS_Major_project_PPT_By_Harsh_Kumar_Singh</a:t>
            </a:r>
            <a:endParaRPr sz="900" dirty="0">
              <a:solidFill>
                <a:srgbClr val="E8EEF2"/>
              </a:solidFill>
              <a:latin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Picture 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702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1048703" name="TextBox 23"/>
          <p:cNvSpPr txBox="1"/>
          <p:nvPr/>
        </p:nvSpPr>
        <p:spPr>
          <a:xfrm>
            <a:off x="713232" y="903389"/>
            <a:ext cx="10006649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dirty="0">
                <a:solidFill>
                  <a:srgbClr val="1F6FB2"/>
                </a:solidFill>
                <a:latin typeface="Calibri"/>
              </a:rPr>
              <a:t>Course: Data Visualization</a:t>
            </a:r>
            <a:r>
              <a:rPr lang="en-IN" sz="1700" b="1" dirty="0">
                <a:solidFill>
                  <a:srgbClr val="1F6FB2"/>
                </a:solidFill>
                <a:latin typeface="Calibri"/>
              </a:rPr>
              <a:t>: https: </a:t>
            </a:r>
            <a:r>
              <a:rPr lang="en-IN" sz="1700" b="1" dirty="0">
                <a:solidFill>
                  <a:srgbClr val="1F6FB2"/>
                </a:solidFill>
                <a:latin typeface="Calibri"/>
                <a:hlinkClick r:id="rId3"/>
              </a:rPr>
              <a:t>//drive.google.com/file/d/1-EhXdbMeykEmnBhAwH25nVMtxHXn2Zst/view?usp=sharing</a:t>
            </a:r>
            <a:endParaRPr sz="1700" b="1" dirty="0">
              <a:solidFill>
                <a:srgbClr val="1F6FB2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0E49C2-ABAC-D743-EA93-9EFB1C12B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515531"/>
            <a:ext cx="7127261" cy="50605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0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204300" y="1699237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6600" b="1" dirty="0">
                <a:solidFill>
                  <a:schemeClr val="tx1"/>
                </a:solidFill>
              </a:rPr>
              <a:t>Thank you</a:t>
            </a:r>
          </a:p>
        </p:txBody>
      </p:sp>
      <p:pic>
        <p:nvPicPr>
          <p:cNvPr id="2097177" name="Picture 14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48725" name="TextBox 45"/>
          <p:cNvSpPr txBox="1"/>
          <p:nvPr/>
        </p:nvSpPr>
        <p:spPr>
          <a:xfrm>
            <a:off x="1431717" y="3429000"/>
            <a:ext cx="8412480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333333"/>
                </a:solidFill>
                <a:latin typeface="Calibri"/>
              </a:rPr>
              <a:t>Harsh Kumar Singh</a:t>
            </a:r>
          </a:p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5A5A5A"/>
                </a:solidFill>
                <a:latin typeface="Calibri"/>
              </a:rPr>
              <a:t>Chandigarh University</a:t>
            </a:r>
            <a:endParaRPr lang="en-IN" sz="1600" b="1" dirty="0">
              <a:solidFill>
                <a:srgbClr val="5A5A5A"/>
              </a:solidFill>
              <a:latin typeface="Calibri"/>
            </a:endParaRPr>
          </a:p>
          <a:p>
            <a:r>
              <a:rPr lang="en-US" sz="1600" b="1" dirty="0"/>
              <a:t>AICTE STU ID: STU6a6b571d927b91785419549</a:t>
            </a:r>
          </a:p>
          <a:p>
            <a:r>
              <a:rPr lang="en-US" sz="1600" b="1" dirty="0"/>
              <a:t>Email ID: </a:t>
            </a:r>
            <a:r>
              <a:rPr lang="en-US" sz="1600" b="1" dirty="0">
                <a:hlinkClick r:id="rId3"/>
              </a:rPr>
              <a:t>harshkrsingh14@gmail.com</a:t>
            </a:r>
            <a:endParaRPr lang="en-US" sz="1600" b="1" dirty="0"/>
          </a:p>
          <a:p>
            <a:pPr algn="l">
              <a:spcAft>
                <a:spcPts val="0"/>
              </a:spcAft>
            </a:pPr>
            <a:endParaRPr sz="1600" b="1" dirty="0">
              <a:solidFill>
                <a:srgbClr val="5A5A5A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4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1A205F-EE6D-41A5-95AA-2BF7B8C5E8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1261</Words>
  <Application>Microsoft Office PowerPoint</Application>
  <PresentationFormat>Widescreen</PresentationFormat>
  <Paragraphs>172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 </vt:lpstr>
      <vt:lpstr>WHO ARE THE END USERS?</vt:lpstr>
      <vt:lpstr>Technology Used</vt:lpstr>
      <vt:lpstr>RESULTS</vt:lpstr>
      <vt:lpstr>RESULTS</vt:lpstr>
      <vt:lpstr>RESULTS</vt:lpstr>
      <vt:lpstr>RESULTS</vt:lpstr>
      <vt:lpstr>RESULTS</vt:lpstr>
      <vt:lpstr>Future scope</vt:lpstr>
      <vt:lpstr>GitHub Link</vt:lpstr>
      <vt:lpstr>VOIS Course Completion Certificate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Harsh Singh</cp:lastModifiedBy>
  <cp:revision>1</cp:revision>
  <dcterms:created xsi:type="dcterms:W3CDTF">2021-07-11T02:13:15Z</dcterms:created>
  <dcterms:modified xsi:type="dcterms:W3CDTF">2026-09-10T07:36:32Z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2954fa1b2efe411bb2e3eabfb36e8500_23</vt:lpwstr>
  </property>
</Properties>
</file>